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7" r:id="rId3"/>
    <p:sldId id="258" r:id="rId4"/>
    <p:sldId id="259" r:id="rId5"/>
    <p:sldId id="260" r:id="rId6"/>
    <p:sldId id="266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3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4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CDC5-006E-453F-9D35-18C09A689608}" type="datetime1">
              <a:rPr lang="ru-RU" smtClean="0"/>
              <a:t>20.09.2026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465F0-FA70-4BFA-917E-6C8E251BC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480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E7764-29AF-4894-8D1F-10F37DFE93DB}" type="datetime1">
              <a:rPr lang="ru-RU" smtClean="0"/>
              <a:t>20.09.2026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465F0-FA70-4BFA-917E-6C8E251BC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0774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29728-EA3D-4BE0-BB4F-D09336CC4E8C}" type="datetime1">
              <a:rPr lang="ru-RU" smtClean="0"/>
              <a:t>20.09.2026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465F0-FA70-4BFA-917E-6C8E251BC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0037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8F128-98E5-4858-91E7-59B3189BE1D1}" type="datetime1">
              <a:rPr lang="ru-RU" smtClean="0"/>
              <a:t>20.09.2026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465F0-FA70-4BFA-917E-6C8E251BC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2532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F417-863A-4D58-BE40-CC631CFADFC9}" type="datetime1">
              <a:rPr lang="ru-RU" smtClean="0"/>
              <a:t>20.09.2026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465F0-FA70-4BFA-917E-6C8E251BC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6094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C723B-BDAA-485B-B4FF-73FA2885B793}" type="datetime1">
              <a:rPr lang="ru-RU" smtClean="0"/>
              <a:t>20.09.2026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465F0-FA70-4BFA-917E-6C8E251BC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5980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6D186-BA4A-44CF-A289-27DB0F9B0F2C}" type="datetime1">
              <a:rPr lang="ru-RU" smtClean="0"/>
              <a:t>20.09.2026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465F0-FA70-4BFA-917E-6C8E251BC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5403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B39D2-BEF7-4F44-9BAE-5363C0E9E554}" type="datetime1">
              <a:rPr lang="ru-RU" smtClean="0"/>
              <a:t>20.09.2026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465F0-FA70-4BFA-917E-6C8E251BC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325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7C763-7F5A-4FA1-B368-248CD5F89BC7}" type="datetime1">
              <a:rPr lang="ru-RU" smtClean="0"/>
              <a:t>20.09.2026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465F0-FA70-4BFA-917E-6C8E251BC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6501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8DEA4-0271-44D8-A701-B6C120693A97}" type="datetime1">
              <a:rPr lang="ru-RU" smtClean="0"/>
              <a:t>20.09.2026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465F0-FA70-4BFA-917E-6C8E251BC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663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F05AF-737A-4A9A-BDE0-A8368C7B619B}" type="datetime1">
              <a:rPr lang="ru-RU" smtClean="0"/>
              <a:t>20.09.2026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465F0-FA70-4BFA-917E-6C8E251BC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31923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4A1C9-298F-4E3A-9BEA-099F455508BC}" type="datetime1">
              <a:rPr lang="ru-RU" smtClean="0"/>
              <a:t>20.09.2026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465F0-FA70-4BFA-917E-6C8E251BC8FD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8386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33B56-F8B1-4148-A421-F4AD1B712441}" type="datetime1">
              <a:rPr lang="ru-RU" smtClean="0"/>
              <a:t>20.09.2026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465F0-FA70-4BFA-917E-6C8E251BC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4032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41E19-A004-4FC5-8B34-862F47557189}" type="datetime1">
              <a:rPr lang="ru-RU" smtClean="0"/>
              <a:t>20.09.2026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465F0-FA70-4BFA-917E-6C8E251BC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03392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0B370-5B40-4472-B031-13727AEE7E30}" type="datetime1">
              <a:rPr lang="ru-RU" smtClean="0"/>
              <a:t>20.09.2026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465F0-FA70-4BFA-917E-6C8E251BC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59939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1EF0A-8CAA-451F-934C-962759E7C019}" type="datetime1">
              <a:rPr lang="ru-RU" smtClean="0"/>
              <a:t>20.09.2026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465F0-FA70-4BFA-917E-6C8E251BC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8255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4B21F-6B65-451E-B168-25B2B9627C1D}" type="datetime1">
              <a:rPr lang="ru-RU" smtClean="0"/>
              <a:t>20.09.2026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465F0-FA70-4BFA-917E-6C8E251BC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4239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4FC3A4B-B352-480A-B2BB-2AB5F2DEF8DC}" type="datetime1">
              <a:rPr lang="ru-RU" smtClean="0"/>
              <a:t>20.09.2026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465F0-FA70-4BFA-917E-6C8E251BC8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39607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85B36B-CB41-5D19-06A3-002A191CE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263315"/>
            <a:ext cx="12191999" cy="2432385"/>
          </a:xfrm>
        </p:spPr>
        <p:txBody>
          <a:bodyPr>
            <a:noAutofit/>
          </a:bodyPr>
          <a:lstStyle/>
          <a:p>
            <a:pPr algn="ctr"/>
            <a:r>
              <a:rPr lang="ru-RU" sz="4000" dirty="0">
                <a:solidFill>
                  <a:schemeClr val="tx1"/>
                </a:solidFill>
              </a:rPr>
              <a:t>Разработка виртуальной лаборатории для изучения средств противодействия вторжениям в информационную инфраструктуру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4B16839-2A5C-C66B-00B8-3D6AB37EF1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32459" y="4776945"/>
            <a:ext cx="6379494" cy="1010243"/>
          </a:xfrm>
        </p:spPr>
        <p:txBody>
          <a:bodyPr>
            <a:noAutofit/>
          </a:bodyPr>
          <a:lstStyle/>
          <a:p>
            <a:pPr algn="r"/>
            <a:r>
              <a:rPr lang="ru-RU" sz="1600" dirty="0">
                <a:solidFill>
                  <a:schemeClr val="tx1"/>
                </a:solidFill>
              </a:rPr>
              <a:t>Пронин Леонид Сергеевич</a:t>
            </a:r>
          </a:p>
          <a:p>
            <a:pPr algn="r"/>
            <a:r>
              <a:rPr lang="ru-RU" sz="1600" dirty="0">
                <a:solidFill>
                  <a:schemeClr val="tx1"/>
                </a:solidFill>
              </a:rPr>
              <a:t>4 курс компьютерная безопасность 932323</a:t>
            </a:r>
          </a:p>
          <a:p>
            <a:pPr algn="r"/>
            <a:r>
              <a:rPr lang="ru-RU" sz="1600" dirty="0">
                <a:solidFill>
                  <a:schemeClr val="tx1"/>
                </a:solidFill>
              </a:rPr>
              <a:t>Научный руководитель</a:t>
            </a:r>
            <a:r>
              <a:rPr lang="en-US" sz="1600" dirty="0">
                <a:solidFill>
                  <a:schemeClr val="tx1"/>
                </a:solidFill>
              </a:rPr>
              <a:t>: </a:t>
            </a:r>
            <a:r>
              <a:rPr lang="ru-RU" sz="1600" dirty="0">
                <a:solidFill>
                  <a:schemeClr val="tx1"/>
                </a:solidFill>
              </a:rPr>
              <a:t>Твардовский А.С.</a:t>
            </a:r>
          </a:p>
        </p:txBody>
      </p:sp>
    </p:spTree>
    <p:extLst>
      <p:ext uri="{BB962C8B-B14F-4D97-AF65-F5344CB8AC3E}">
        <p14:creationId xmlns:p14="http://schemas.microsoft.com/office/powerpoint/2010/main" val="2395022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C00ECEC-4D9B-47C0-032F-06C31DE36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2" y="2049387"/>
            <a:ext cx="10733088" cy="44113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Традиционные методы администрирования и средства защиты, в современном мире все больше перестают справляться с угрозами вторжения в систему. Появилась необходимость использования следующих систем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1) </a:t>
            </a:r>
            <a:r>
              <a:rPr lang="en-US" dirty="0"/>
              <a:t>SIEM (Security Information and Event Management) </a:t>
            </a:r>
            <a:r>
              <a:rPr lang="ru-RU" dirty="0"/>
              <a:t>Мониторинг и логирование событий безопасности с разных СЗИ в инфраструктуре</a:t>
            </a:r>
          </a:p>
          <a:p>
            <a:pPr marL="0" indent="0">
              <a:buNone/>
            </a:pPr>
            <a:r>
              <a:rPr lang="ru-RU" dirty="0"/>
              <a:t>2) </a:t>
            </a:r>
            <a:r>
              <a:rPr lang="en-US" dirty="0"/>
              <a:t>IDS (Intrusion Detection System) </a:t>
            </a:r>
            <a:r>
              <a:rPr lang="ru-RU" dirty="0"/>
              <a:t>Обнаружение вторжений (поиск сигнатур в трафике, анализ логов, анализ поведения)</a:t>
            </a:r>
          </a:p>
          <a:p>
            <a:pPr marL="0" indent="0">
              <a:buNone/>
            </a:pPr>
            <a:r>
              <a:rPr lang="ru-RU" dirty="0"/>
              <a:t>3) </a:t>
            </a:r>
            <a:r>
              <a:rPr lang="en-US" dirty="0"/>
              <a:t>IPS (Intrusion Prevention System) </a:t>
            </a:r>
            <a:r>
              <a:rPr lang="ru-RU" dirty="0"/>
              <a:t>Предотвращение обнаруженных вторжений, обычно является компонентом </a:t>
            </a:r>
            <a:r>
              <a:rPr lang="en-US" dirty="0"/>
              <a:t>IDS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91017F-9708-EC30-0DB4-C3A7AFDD5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465F0-FA70-4BFA-917E-6C8E251BC8FD}" type="slidenum">
              <a:rPr lang="ru-RU" smtClean="0"/>
              <a:t>2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E03A871-FF03-23EF-B86A-EBB813A0A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2718"/>
            <a:ext cx="12191999" cy="1400530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Введение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D472C213-BB1A-BC5D-2891-5076F69AE4E2}"/>
              </a:ext>
            </a:extLst>
          </p:cNvPr>
          <p:cNvSpPr txBox="1">
            <a:spLocks/>
          </p:cNvSpPr>
          <p:nvPr/>
        </p:nvSpPr>
        <p:spPr>
          <a:xfrm>
            <a:off x="1084262" y="205926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905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9A6BC6-7B79-235C-C330-D24F3AB49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2718"/>
            <a:ext cx="12191999" cy="1400530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Актуальность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B5C83A-38D9-F1AB-E016-63AC59757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402" y="1965492"/>
            <a:ext cx="11377195" cy="4098758"/>
          </a:xfrm>
        </p:spPr>
        <p:txBody>
          <a:bodyPr>
            <a:normAutofit lnSpcReduction="10000"/>
          </a:bodyPr>
          <a:lstStyle/>
          <a:p>
            <a:pPr marL="457200" indent="-457200">
              <a:buClr>
                <a:schemeClr val="tx1"/>
              </a:buClr>
              <a:buSzPct val="100000"/>
              <a:buFont typeface="+mj-lt"/>
              <a:buAutoNum type="arabicParenR"/>
            </a:pPr>
            <a:r>
              <a:rPr lang="ru-RU" sz="3200" dirty="0"/>
              <a:t>Необходимость приобретения практических навыков по администрированию средств защиты информации</a:t>
            </a:r>
          </a:p>
          <a:p>
            <a:pPr marL="457200" indent="-457200">
              <a:buClr>
                <a:schemeClr val="tx1"/>
              </a:buClr>
              <a:buSzPct val="100000"/>
              <a:buFont typeface="+mj-lt"/>
              <a:buAutoNum type="arabicParenR"/>
            </a:pPr>
            <a:r>
              <a:rPr lang="ru-RU" sz="3200" dirty="0"/>
              <a:t>Переход многих российских компаний на </a:t>
            </a:r>
            <a:r>
              <a:rPr lang="en-US" sz="3200" dirty="0"/>
              <a:t>OpenSourse</a:t>
            </a:r>
            <a:r>
              <a:rPr lang="ru-RU" sz="3200" dirty="0"/>
              <a:t>, либо на решения основанные на </a:t>
            </a:r>
            <a:r>
              <a:rPr lang="en-US" sz="3200" dirty="0"/>
              <a:t>OpenSourse</a:t>
            </a:r>
            <a:endParaRPr lang="ru-RU" sz="3200" dirty="0"/>
          </a:p>
          <a:p>
            <a:pPr marL="457200" indent="-457200">
              <a:buClr>
                <a:schemeClr val="tx1"/>
              </a:buClr>
              <a:buSzPct val="100000"/>
              <a:buFont typeface="+mj-lt"/>
              <a:buAutoNum type="arabicParenR"/>
            </a:pPr>
            <a:r>
              <a:rPr lang="ru-RU" sz="3200" dirty="0"/>
              <a:t>Существующие стенды платные и недоступны широкой аудитории, а учится хотят многие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326DB4A-9B8E-8E04-F966-5A1B6612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B465F0-FA70-4BFA-917E-6C8E251BC8FD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28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4524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2F161-2C61-8453-70D0-D0AEC441C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B538A1-8556-A8A9-C3DF-BF6C96813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2718"/>
            <a:ext cx="12191999" cy="1400530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Цели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3F304E-CCE8-D5BB-32E8-B01E48AF6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152" y="1563437"/>
            <a:ext cx="11313695" cy="4596063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ru-RU" sz="3200" dirty="0"/>
              <a:t>Цель</a:t>
            </a:r>
            <a:r>
              <a:rPr lang="en-US" sz="3200" dirty="0"/>
              <a:t>:</a:t>
            </a:r>
            <a:r>
              <a:rPr lang="ru-RU" sz="3200" dirty="0"/>
              <a:t> Разработка виртуальной лаборатории для изучения средств противодействия вторжениям в информационную инфраструктуру</a:t>
            </a:r>
          </a:p>
          <a:p>
            <a:pPr marL="457200" indent="-457200">
              <a:buClr>
                <a:schemeClr val="tx1"/>
              </a:buClr>
              <a:buSzPct val="100000"/>
              <a:buFont typeface="+mj-lt"/>
              <a:buAutoNum type="arabicParenR"/>
            </a:pPr>
            <a:r>
              <a:rPr lang="ru-RU" sz="3200" dirty="0"/>
              <a:t>Изучить основы защиты информационной инфраструктуры</a:t>
            </a:r>
          </a:p>
          <a:p>
            <a:pPr marL="457200" indent="-457200">
              <a:buClr>
                <a:schemeClr val="tx1"/>
              </a:buClr>
              <a:buSzPct val="100000"/>
              <a:buFont typeface="+mj-lt"/>
              <a:buAutoNum type="arabicParenR"/>
            </a:pPr>
            <a:r>
              <a:rPr lang="ru-RU" sz="3200" dirty="0"/>
              <a:t>Провести обзор решений классов </a:t>
            </a:r>
            <a:r>
              <a:rPr lang="en-US" sz="3200" dirty="0"/>
              <a:t>SIEM</a:t>
            </a:r>
            <a:r>
              <a:rPr lang="ru-RU" sz="3200" dirty="0"/>
              <a:t>, </a:t>
            </a:r>
            <a:r>
              <a:rPr lang="en-US" sz="3200" dirty="0"/>
              <a:t>IDS</a:t>
            </a:r>
            <a:r>
              <a:rPr lang="ru-RU" sz="3200" dirty="0"/>
              <a:t>, </a:t>
            </a:r>
            <a:r>
              <a:rPr lang="en-US" sz="3200" dirty="0"/>
              <a:t>IPS</a:t>
            </a:r>
            <a:endParaRPr lang="ru-RU" sz="3200" dirty="0"/>
          </a:p>
          <a:p>
            <a:pPr marL="457200" indent="-457200">
              <a:buClr>
                <a:schemeClr val="tx1"/>
              </a:buClr>
              <a:buSzPct val="100000"/>
              <a:buFont typeface="+mj-lt"/>
              <a:buAutoNum type="arabicParenR"/>
            </a:pPr>
            <a:r>
              <a:rPr lang="ru-RU" sz="3200" dirty="0"/>
              <a:t>Разработка лабораторных работ для изучения средств противодействия вторжениям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8BC3AC3-8012-1DB1-0887-8171F98A9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B465F0-FA70-4BFA-917E-6C8E251BC8FD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28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3476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4F60FE-ADEB-FEB4-3300-E8908D50B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607" y="524908"/>
            <a:ext cx="10299032" cy="1400530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Цели и задачи на первый семестр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D9BE94-6D6C-F59A-681A-3E65CFFAF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465F0-FA70-4BFA-917E-6C8E251BC8FD}" type="slidenum">
              <a:rPr lang="ru-RU" smtClean="0"/>
              <a:t>5</a:t>
            </a:fld>
            <a:endParaRPr lang="ru-RU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CDAD59A3-ABE3-8CEB-295E-4391DD177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107" y="1737029"/>
            <a:ext cx="11313695" cy="4596063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ru-RU" sz="3200" dirty="0"/>
              <a:t>Цель</a:t>
            </a:r>
            <a:r>
              <a:rPr lang="en-US" sz="3200" dirty="0"/>
              <a:t>: </a:t>
            </a:r>
            <a:r>
              <a:rPr lang="ru-RU" sz="3200" dirty="0"/>
              <a:t>Изучить основы защиты информационной инфраструктуры</a:t>
            </a:r>
          </a:p>
          <a:p>
            <a:pPr marL="0" indent="0">
              <a:buClr>
                <a:schemeClr val="tx1"/>
              </a:buClr>
              <a:buSzPct val="100000"/>
              <a:buNone/>
            </a:pPr>
            <a:endParaRPr lang="ru-RU" sz="3200" dirty="0"/>
          </a:p>
          <a:p>
            <a:pPr marL="457200" indent="-457200">
              <a:buClr>
                <a:schemeClr val="tx1"/>
              </a:buClr>
              <a:buSzPct val="100000"/>
              <a:buFont typeface="+mj-lt"/>
              <a:buAutoNum type="arabicParenR"/>
            </a:pPr>
            <a:r>
              <a:rPr lang="ru-RU" sz="3200" dirty="0"/>
              <a:t>Изучить основы защиты информационной инфраструктуры</a:t>
            </a:r>
          </a:p>
          <a:p>
            <a:pPr marL="457200" indent="-457200">
              <a:buClr>
                <a:schemeClr val="tx1"/>
              </a:buClr>
              <a:buSzPct val="100000"/>
              <a:buFont typeface="+mj-lt"/>
              <a:buAutoNum type="arabicParenR"/>
            </a:pPr>
            <a:r>
              <a:rPr lang="ru-RU" sz="3200" dirty="0"/>
              <a:t>Провести обзор </a:t>
            </a:r>
            <a:r>
              <a:rPr lang="en-US" sz="3200" dirty="0"/>
              <a:t>open-source </a:t>
            </a:r>
            <a:r>
              <a:rPr lang="ru-RU" sz="3200" dirty="0"/>
              <a:t>ПО и подготовить виртуальные машины для</a:t>
            </a:r>
            <a:r>
              <a:rPr lang="en-US" sz="3200" dirty="0"/>
              <a:t> </a:t>
            </a:r>
            <a:r>
              <a:rPr lang="ru-RU" sz="3200" dirty="0"/>
              <a:t>построения виртуальных стендов</a:t>
            </a:r>
          </a:p>
        </p:txBody>
      </p:sp>
    </p:spTree>
    <p:extLst>
      <p:ext uri="{BB962C8B-B14F-4D97-AF65-F5344CB8AC3E}">
        <p14:creationId xmlns:p14="http://schemas.microsoft.com/office/powerpoint/2010/main" val="1830685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A05F23-1B33-2458-FC19-366DE5A2F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70276"/>
            <a:ext cx="12192000" cy="1400530"/>
          </a:xfrm>
        </p:spPr>
        <p:txBody>
          <a:bodyPr/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Спасибо за внимание!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88265EB-52C1-7E09-9E49-BF1CD06A9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B465F0-FA70-4BFA-917E-6C8E251BC8FD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ru-RU" sz="28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87123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Зеленый и желтый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223</Words>
  <Application>Microsoft Office PowerPoint</Application>
  <PresentationFormat>Широкоэкранный</PresentationFormat>
  <Paragraphs>30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Ион</vt:lpstr>
      <vt:lpstr>Разработка виртуальной лаборатории для изучения средств противодействия вторжениям в информационную инфраструктуру</vt:lpstr>
      <vt:lpstr>Введение</vt:lpstr>
      <vt:lpstr>Актуальность </vt:lpstr>
      <vt:lpstr>Цели и задачи</vt:lpstr>
      <vt:lpstr>Цели и задачи на первый семестр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Пользователь</dc:creator>
  <cp:lastModifiedBy>Пользователь</cp:lastModifiedBy>
  <cp:revision>4</cp:revision>
  <dcterms:created xsi:type="dcterms:W3CDTF">2026-09-18T12:13:11Z</dcterms:created>
  <dcterms:modified xsi:type="dcterms:W3CDTF">2026-09-20T18:05:34Z</dcterms:modified>
</cp:coreProperties>
</file>